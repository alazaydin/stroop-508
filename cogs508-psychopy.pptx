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6" r:id="rId3"/>
    <p:sldId id="268" r:id="rId4"/>
    <p:sldId id="257" r:id="rId5"/>
    <p:sldId id="258" r:id="rId6"/>
    <p:sldId id="259" r:id="rId7"/>
    <p:sldId id="260" r:id="rId8"/>
    <p:sldId id="261" r:id="rId9"/>
    <p:sldId id="262" r:id="rId10"/>
    <p:sldId id="263" r:id="rId11"/>
    <p:sldId id="264" r:id="rId12"/>
    <p:sldId id="265" r:id="rId13"/>
    <p:sldId id="269" r:id="rId14"/>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5"/>
    <p:restoredTop sz="94694"/>
  </p:normalViewPr>
  <p:slideViewPr>
    <p:cSldViewPr snapToGrid="0">
      <p:cViewPr varScale="1">
        <p:scale>
          <a:sx n="121" d="100"/>
          <a:sy n="121" d="100"/>
        </p:scale>
        <p:origin x="63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3A4BDC-D856-BD4A-814B-2D946ED7F99A}" type="datetimeFigureOut">
              <a:rPr lang="en-TR" smtClean="0"/>
              <a:t>30.04.2026</a:t>
            </a:fld>
            <a:endParaRPr lang="en-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DC4EDC-8D18-ED45-8754-88BA79724F37}" type="slidenum">
              <a:rPr lang="en-TR" smtClean="0"/>
              <a:t>‹#›</a:t>
            </a:fld>
            <a:endParaRPr lang="en-TR"/>
          </a:p>
        </p:txBody>
      </p:sp>
    </p:spTree>
    <p:extLst>
      <p:ext uri="{BB962C8B-B14F-4D97-AF65-F5344CB8AC3E}">
        <p14:creationId xmlns:p14="http://schemas.microsoft.com/office/powerpoint/2010/main" val="1466363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R" dirty="0"/>
          </a:p>
        </p:txBody>
      </p:sp>
      <p:sp>
        <p:nvSpPr>
          <p:cNvPr id="4" name="Slide Number Placeholder 3"/>
          <p:cNvSpPr>
            <a:spLocks noGrp="1"/>
          </p:cNvSpPr>
          <p:nvPr>
            <p:ph type="sldNum" sz="quarter" idx="5"/>
          </p:nvPr>
        </p:nvSpPr>
        <p:spPr/>
        <p:txBody>
          <a:bodyPr/>
          <a:lstStyle/>
          <a:p>
            <a:fld id="{59DC4EDC-8D18-ED45-8754-88BA79724F37}" type="slidenum">
              <a:rPr lang="en-TR" smtClean="0"/>
              <a:t>10</a:t>
            </a:fld>
            <a:endParaRPr lang="en-TR"/>
          </a:p>
        </p:txBody>
      </p:sp>
    </p:spTree>
    <p:extLst>
      <p:ext uri="{BB962C8B-B14F-4D97-AF65-F5344CB8AC3E}">
        <p14:creationId xmlns:p14="http://schemas.microsoft.com/office/powerpoint/2010/main" val="4250512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3739B-D8C0-CCD0-58A6-FDF43D9799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R"/>
          </a:p>
        </p:txBody>
      </p:sp>
      <p:sp>
        <p:nvSpPr>
          <p:cNvPr id="3" name="Subtitle 2">
            <a:extLst>
              <a:ext uri="{FF2B5EF4-FFF2-40B4-BE49-F238E27FC236}">
                <a16:creationId xmlns:a16="http://schemas.microsoft.com/office/drawing/2014/main" id="{212DF422-A7C4-EC72-243A-CC87639D20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R"/>
          </a:p>
        </p:txBody>
      </p:sp>
      <p:sp>
        <p:nvSpPr>
          <p:cNvPr id="4" name="Date Placeholder 3">
            <a:extLst>
              <a:ext uri="{FF2B5EF4-FFF2-40B4-BE49-F238E27FC236}">
                <a16:creationId xmlns:a16="http://schemas.microsoft.com/office/drawing/2014/main" id="{6DC75BA0-AF1D-C69B-00B3-F48441E5A8A7}"/>
              </a:ext>
            </a:extLst>
          </p:cNvPr>
          <p:cNvSpPr>
            <a:spLocks noGrp="1"/>
          </p:cNvSpPr>
          <p:nvPr>
            <p:ph type="dt" sz="half" idx="10"/>
          </p:nvPr>
        </p:nvSpPr>
        <p:spPr/>
        <p:txBody>
          <a:bodyPr/>
          <a:lstStyle/>
          <a:p>
            <a:fld id="{F0D890A3-D829-2749-9D70-287C11AFFBFB}" type="datetimeFigureOut">
              <a:rPr lang="en-TR" smtClean="0"/>
              <a:t>30.04.2026</a:t>
            </a:fld>
            <a:endParaRPr lang="en-TR"/>
          </a:p>
        </p:txBody>
      </p:sp>
      <p:sp>
        <p:nvSpPr>
          <p:cNvPr id="5" name="Footer Placeholder 4">
            <a:extLst>
              <a:ext uri="{FF2B5EF4-FFF2-40B4-BE49-F238E27FC236}">
                <a16:creationId xmlns:a16="http://schemas.microsoft.com/office/drawing/2014/main" id="{BD1B0F0B-4017-8553-BF5F-E63E600152FF}"/>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7994198A-1EB5-3E8E-865C-31CE23AE59BE}"/>
              </a:ext>
            </a:extLst>
          </p:cNvPr>
          <p:cNvSpPr>
            <a:spLocks noGrp="1"/>
          </p:cNvSpPr>
          <p:nvPr>
            <p:ph type="sldNum" sz="quarter" idx="12"/>
          </p:nvPr>
        </p:nvSpPr>
        <p:spPr/>
        <p:txBody>
          <a:bodyPr/>
          <a:lstStyle/>
          <a:p>
            <a:fld id="{5E2B771E-14A4-494A-A5EA-47FF963F6436}" type="slidenum">
              <a:rPr lang="en-TR" smtClean="0"/>
              <a:t>‹#›</a:t>
            </a:fld>
            <a:endParaRPr lang="en-TR"/>
          </a:p>
        </p:txBody>
      </p:sp>
    </p:spTree>
    <p:extLst>
      <p:ext uri="{BB962C8B-B14F-4D97-AF65-F5344CB8AC3E}">
        <p14:creationId xmlns:p14="http://schemas.microsoft.com/office/powerpoint/2010/main" val="1147361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030D1-2923-582F-1AE4-14285EEFB547}"/>
              </a:ext>
            </a:extLst>
          </p:cNvPr>
          <p:cNvSpPr>
            <a:spLocks noGrp="1"/>
          </p:cNvSpPr>
          <p:nvPr>
            <p:ph type="title"/>
          </p:nvPr>
        </p:nvSpPr>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66868EC3-A528-0826-9699-D33FDA5A12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7AFB4154-8A55-C41D-5B55-79B3062C6C44}"/>
              </a:ext>
            </a:extLst>
          </p:cNvPr>
          <p:cNvSpPr>
            <a:spLocks noGrp="1"/>
          </p:cNvSpPr>
          <p:nvPr>
            <p:ph type="dt" sz="half" idx="10"/>
          </p:nvPr>
        </p:nvSpPr>
        <p:spPr/>
        <p:txBody>
          <a:bodyPr/>
          <a:lstStyle/>
          <a:p>
            <a:fld id="{F0D890A3-D829-2749-9D70-287C11AFFBFB}" type="datetimeFigureOut">
              <a:rPr lang="en-TR" smtClean="0"/>
              <a:t>30.04.2026</a:t>
            </a:fld>
            <a:endParaRPr lang="en-TR"/>
          </a:p>
        </p:txBody>
      </p:sp>
      <p:sp>
        <p:nvSpPr>
          <p:cNvPr id="5" name="Footer Placeholder 4">
            <a:extLst>
              <a:ext uri="{FF2B5EF4-FFF2-40B4-BE49-F238E27FC236}">
                <a16:creationId xmlns:a16="http://schemas.microsoft.com/office/drawing/2014/main" id="{04E636DB-CDBF-1C71-18A6-958264D61707}"/>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A2196FD9-533C-80A2-41E9-5C5E3B5370BF}"/>
              </a:ext>
            </a:extLst>
          </p:cNvPr>
          <p:cNvSpPr>
            <a:spLocks noGrp="1"/>
          </p:cNvSpPr>
          <p:nvPr>
            <p:ph type="sldNum" sz="quarter" idx="12"/>
          </p:nvPr>
        </p:nvSpPr>
        <p:spPr/>
        <p:txBody>
          <a:bodyPr/>
          <a:lstStyle/>
          <a:p>
            <a:fld id="{5E2B771E-14A4-494A-A5EA-47FF963F6436}" type="slidenum">
              <a:rPr lang="en-TR" smtClean="0"/>
              <a:t>‹#›</a:t>
            </a:fld>
            <a:endParaRPr lang="en-TR"/>
          </a:p>
        </p:txBody>
      </p:sp>
    </p:spTree>
    <p:extLst>
      <p:ext uri="{BB962C8B-B14F-4D97-AF65-F5344CB8AC3E}">
        <p14:creationId xmlns:p14="http://schemas.microsoft.com/office/powerpoint/2010/main" val="2703638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73F94-22F6-C62C-5A2A-79CAE3499B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R"/>
          </a:p>
        </p:txBody>
      </p:sp>
      <p:sp>
        <p:nvSpPr>
          <p:cNvPr id="3" name="Text Placeholder 2">
            <a:extLst>
              <a:ext uri="{FF2B5EF4-FFF2-40B4-BE49-F238E27FC236}">
                <a16:creationId xmlns:a16="http://schemas.microsoft.com/office/drawing/2014/main" id="{0A433BAB-5C61-B358-3A5F-D700457D42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AECB48-5BEA-766F-6DBC-D04B2EF5DD4A}"/>
              </a:ext>
            </a:extLst>
          </p:cNvPr>
          <p:cNvSpPr>
            <a:spLocks noGrp="1"/>
          </p:cNvSpPr>
          <p:nvPr>
            <p:ph type="dt" sz="half" idx="10"/>
          </p:nvPr>
        </p:nvSpPr>
        <p:spPr/>
        <p:txBody>
          <a:bodyPr/>
          <a:lstStyle/>
          <a:p>
            <a:fld id="{F0D890A3-D829-2749-9D70-287C11AFFBFB}" type="datetimeFigureOut">
              <a:rPr lang="en-TR" smtClean="0"/>
              <a:t>30.04.2026</a:t>
            </a:fld>
            <a:endParaRPr lang="en-TR"/>
          </a:p>
        </p:txBody>
      </p:sp>
      <p:sp>
        <p:nvSpPr>
          <p:cNvPr id="5" name="Footer Placeholder 4">
            <a:extLst>
              <a:ext uri="{FF2B5EF4-FFF2-40B4-BE49-F238E27FC236}">
                <a16:creationId xmlns:a16="http://schemas.microsoft.com/office/drawing/2014/main" id="{E74B4809-AE56-0E93-BB1E-53DD65856A33}"/>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127108F1-41A1-A71A-5ED0-55E6FB3AD455}"/>
              </a:ext>
            </a:extLst>
          </p:cNvPr>
          <p:cNvSpPr>
            <a:spLocks noGrp="1"/>
          </p:cNvSpPr>
          <p:nvPr>
            <p:ph type="sldNum" sz="quarter" idx="12"/>
          </p:nvPr>
        </p:nvSpPr>
        <p:spPr/>
        <p:txBody>
          <a:bodyPr/>
          <a:lstStyle/>
          <a:p>
            <a:fld id="{5E2B771E-14A4-494A-A5EA-47FF963F6436}" type="slidenum">
              <a:rPr lang="en-TR" smtClean="0"/>
              <a:t>‹#›</a:t>
            </a:fld>
            <a:endParaRPr lang="en-TR"/>
          </a:p>
        </p:txBody>
      </p:sp>
    </p:spTree>
    <p:extLst>
      <p:ext uri="{BB962C8B-B14F-4D97-AF65-F5344CB8AC3E}">
        <p14:creationId xmlns:p14="http://schemas.microsoft.com/office/powerpoint/2010/main" val="2121155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3C27-836D-7BB2-38C8-031D2ED48372}"/>
              </a:ext>
            </a:extLst>
          </p:cNvPr>
          <p:cNvSpPr>
            <a:spLocks noGrp="1"/>
          </p:cNvSpPr>
          <p:nvPr>
            <p:ph type="title"/>
          </p:nvPr>
        </p:nvSpPr>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0032AA1A-A0E0-2AD1-0F96-1CE496BC1D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Content Placeholder 3">
            <a:extLst>
              <a:ext uri="{FF2B5EF4-FFF2-40B4-BE49-F238E27FC236}">
                <a16:creationId xmlns:a16="http://schemas.microsoft.com/office/drawing/2014/main" id="{061B2DDE-4713-538E-7A64-CD43313DF5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Date Placeholder 4">
            <a:extLst>
              <a:ext uri="{FF2B5EF4-FFF2-40B4-BE49-F238E27FC236}">
                <a16:creationId xmlns:a16="http://schemas.microsoft.com/office/drawing/2014/main" id="{47BD9CAB-C8E9-93AC-8EE2-D972AC21E227}"/>
              </a:ext>
            </a:extLst>
          </p:cNvPr>
          <p:cNvSpPr>
            <a:spLocks noGrp="1"/>
          </p:cNvSpPr>
          <p:nvPr>
            <p:ph type="dt" sz="half" idx="10"/>
          </p:nvPr>
        </p:nvSpPr>
        <p:spPr/>
        <p:txBody>
          <a:bodyPr/>
          <a:lstStyle/>
          <a:p>
            <a:fld id="{F0D890A3-D829-2749-9D70-287C11AFFBFB}" type="datetimeFigureOut">
              <a:rPr lang="en-TR" smtClean="0"/>
              <a:t>30.04.2026</a:t>
            </a:fld>
            <a:endParaRPr lang="en-TR"/>
          </a:p>
        </p:txBody>
      </p:sp>
      <p:sp>
        <p:nvSpPr>
          <p:cNvPr id="6" name="Footer Placeholder 5">
            <a:extLst>
              <a:ext uri="{FF2B5EF4-FFF2-40B4-BE49-F238E27FC236}">
                <a16:creationId xmlns:a16="http://schemas.microsoft.com/office/drawing/2014/main" id="{3FD87BC4-A10D-1D2C-E27B-6410DD77A2F7}"/>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7D92CAC8-9B94-B4DA-48CF-3E9120892DDB}"/>
              </a:ext>
            </a:extLst>
          </p:cNvPr>
          <p:cNvSpPr>
            <a:spLocks noGrp="1"/>
          </p:cNvSpPr>
          <p:nvPr>
            <p:ph type="sldNum" sz="quarter" idx="12"/>
          </p:nvPr>
        </p:nvSpPr>
        <p:spPr/>
        <p:txBody>
          <a:bodyPr/>
          <a:lstStyle/>
          <a:p>
            <a:fld id="{5E2B771E-14A4-494A-A5EA-47FF963F6436}" type="slidenum">
              <a:rPr lang="en-TR" smtClean="0"/>
              <a:t>‹#›</a:t>
            </a:fld>
            <a:endParaRPr lang="en-TR"/>
          </a:p>
        </p:txBody>
      </p:sp>
    </p:spTree>
    <p:extLst>
      <p:ext uri="{BB962C8B-B14F-4D97-AF65-F5344CB8AC3E}">
        <p14:creationId xmlns:p14="http://schemas.microsoft.com/office/powerpoint/2010/main" val="2515440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EA857-F390-490A-A15B-A51C15651C8E}"/>
              </a:ext>
            </a:extLst>
          </p:cNvPr>
          <p:cNvSpPr>
            <a:spLocks noGrp="1"/>
          </p:cNvSpPr>
          <p:nvPr>
            <p:ph type="title"/>
          </p:nvPr>
        </p:nvSpPr>
        <p:spPr>
          <a:xfrm>
            <a:off x="839788" y="365125"/>
            <a:ext cx="10515600" cy="1325563"/>
          </a:xfrm>
        </p:spPr>
        <p:txBody>
          <a:bodyPr/>
          <a:lstStyle/>
          <a:p>
            <a:r>
              <a:rPr lang="en-US"/>
              <a:t>Click to edit Master title style</a:t>
            </a:r>
            <a:endParaRPr lang="en-TR"/>
          </a:p>
        </p:txBody>
      </p:sp>
      <p:sp>
        <p:nvSpPr>
          <p:cNvPr id="3" name="Text Placeholder 2">
            <a:extLst>
              <a:ext uri="{FF2B5EF4-FFF2-40B4-BE49-F238E27FC236}">
                <a16:creationId xmlns:a16="http://schemas.microsoft.com/office/drawing/2014/main" id="{A98DD688-378E-285C-2A91-A5112E5DD4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008C4D-FF2D-9549-EB62-69F42EE7E9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Text Placeholder 4">
            <a:extLst>
              <a:ext uri="{FF2B5EF4-FFF2-40B4-BE49-F238E27FC236}">
                <a16:creationId xmlns:a16="http://schemas.microsoft.com/office/drawing/2014/main" id="{78701997-5B3C-14B9-BAB3-B6E665A929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EC1ECF-7E8E-ABCE-9CA5-0C2C71B129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7" name="Date Placeholder 6">
            <a:extLst>
              <a:ext uri="{FF2B5EF4-FFF2-40B4-BE49-F238E27FC236}">
                <a16:creationId xmlns:a16="http://schemas.microsoft.com/office/drawing/2014/main" id="{6217B491-5440-AEE5-D646-4964DA698199}"/>
              </a:ext>
            </a:extLst>
          </p:cNvPr>
          <p:cNvSpPr>
            <a:spLocks noGrp="1"/>
          </p:cNvSpPr>
          <p:nvPr>
            <p:ph type="dt" sz="half" idx="10"/>
          </p:nvPr>
        </p:nvSpPr>
        <p:spPr/>
        <p:txBody>
          <a:bodyPr/>
          <a:lstStyle/>
          <a:p>
            <a:fld id="{F0D890A3-D829-2749-9D70-287C11AFFBFB}" type="datetimeFigureOut">
              <a:rPr lang="en-TR" smtClean="0"/>
              <a:t>30.04.2026</a:t>
            </a:fld>
            <a:endParaRPr lang="en-TR"/>
          </a:p>
        </p:txBody>
      </p:sp>
      <p:sp>
        <p:nvSpPr>
          <p:cNvPr id="8" name="Footer Placeholder 7">
            <a:extLst>
              <a:ext uri="{FF2B5EF4-FFF2-40B4-BE49-F238E27FC236}">
                <a16:creationId xmlns:a16="http://schemas.microsoft.com/office/drawing/2014/main" id="{625FCBD1-77DC-585A-EF90-BBDDA2D37FD9}"/>
              </a:ext>
            </a:extLst>
          </p:cNvPr>
          <p:cNvSpPr>
            <a:spLocks noGrp="1"/>
          </p:cNvSpPr>
          <p:nvPr>
            <p:ph type="ftr" sz="quarter" idx="11"/>
          </p:nvPr>
        </p:nvSpPr>
        <p:spPr/>
        <p:txBody>
          <a:bodyPr/>
          <a:lstStyle/>
          <a:p>
            <a:endParaRPr lang="en-TR"/>
          </a:p>
        </p:txBody>
      </p:sp>
      <p:sp>
        <p:nvSpPr>
          <p:cNvPr id="9" name="Slide Number Placeholder 8">
            <a:extLst>
              <a:ext uri="{FF2B5EF4-FFF2-40B4-BE49-F238E27FC236}">
                <a16:creationId xmlns:a16="http://schemas.microsoft.com/office/drawing/2014/main" id="{CCF4A5A3-2B87-70F9-61D1-2E14E285DC7F}"/>
              </a:ext>
            </a:extLst>
          </p:cNvPr>
          <p:cNvSpPr>
            <a:spLocks noGrp="1"/>
          </p:cNvSpPr>
          <p:nvPr>
            <p:ph type="sldNum" sz="quarter" idx="12"/>
          </p:nvPr>
        </p:nvSpPr>
        <p:spPr/>
        <p:txBody>
          <a:bodyPr/>
          <a:lstStyle/>
          <a:p>
            <a:fld id="{5E2B771E-14A4-494A-A5EA-47FF963F6436}" type="slidenum">
              <a:rPr lang="en-TR" smtClean="0"/>
              <a:t>‹#›</a:t>
            </a:fld>
            <a:endParaRPr lang="en-TR"/>
          </a:p>
        </p:txBody>
      </p:sp>
    </p:spTree>
    <p:extLst>
      <p:ext uri="{BB962C8B-B14F-4D97-AF65-F5344CB8AC3E}">
        <p14:creationId xmlns:p14="http://schemas.microsoft.com/office/powerpoint/2010/main" val="205925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D2B32-D003-E61E-17EC-E71499440F5F}"/>
              </a:ext>
            </a:extLst>
          </p:cNvPr>
          <p:cNvSpPr>
            <a:spLocks noGrp="1"/>
          </p:cNvSpPr>
          <p:nvPr>
            <p:ph type="title"/>
          </p:nvPr>
        </p:nvSpPr>
        <p:spPr/>
        <p:txBody>
          <a:bodyPr/>
          <a:lstStyle/>
          <a:p>
            <a:r>
              <a:rPr lang="en-US"/>
              <a:t>Click to edit Master title style</a:t>
            </a:r>
            <a:endParaRPr lang="en-TR"/>
          </a:p>
        </p:txBody>
      </p:sp>
      <p:sp>
        <p:nvSpPr>
          <p:cNvPr id="3" name="Date Placeholder 2">
            <a:extLst>
              <a:ext uri="{FF2B5EF4-FFF2-40B4-BE49-F238E27FC236}">
                <a16:creationId xmlns:a16="http://schemas.microsoft.com/office/drawing/2014/main" id="{14EC8B32-8422-35AB-486F-636D875C6AB6}"/>
              </a:ext>
            </a:extLst>
          </p:cNvPr>
          <p:cNvSpPr>
            <a:spLocks noGrp="1"/>
          </p:cNvSpPr>
          <p:nvPr>
            <p:ph type="dt" sz="half" idx="10"/>
          </p:nvPr>
        </p:nvSpPr>
        <p:spPr/>
        <p:txBody>
          <a:bodyPr/>
          <a:lstStyle/>
          <a:p>
            <a:fld id="{F0D890A3-D829-2749-9D70-287C11AFFBFB}" type="datetimeFigureOut">
              <a:rPr lang="en-TR" smtClean="0"/>
              <a:t>30.04.2026</a:t>
            </a:fld>
            <a:endParaRPr lang="en-TR"/>
          </a:p>
        </p:txBody>
      </p:sp>
      <p:sp>
        <p:nvSpPr>
          <p:cNvPr id="4" name="Footer Placeholder 3">
            <a:extLst>
              <a:ext uri="{FF2B5EF4-FFF2-40B4-BE49-F238E27FC236}">
                <a16:creationId xmlns:a16="http://schemas.microsoft.com/office/drawing/2014/main" id="{340F5C64-022F-512A-F9C4-229E07E0C8B1}"/>
              </a:ext>
            </a:extLst>
          </p:cNvPr>
          <p:cNvSpPr>
            <a:spLocks noGrp="1"/>
          </p:cNvSpPr>
          <p:nvPr>
            <p:ph type="ftr" sz="quarter" idx="11"/>
          </p:nvPr>
        </p:nvSpPr>
        <p:spPr/>
        <p:txBody>
          <a:bodyPr/>
          <a:lstStyle/>
          <a:p>
            <a:endParaRPr lang="en-TR"/>
          </a:p>
        </p:txBody>
      </p:sp>
      <p:sp>
        <p:nvSpPr>
          <p:cNvPr id="5" name="Slide Number Placeholder 4">
            <a:extLst>
              <a:ext uri="{FF2B5EF4-FFF2-40B4-BE49-F238E27FC236}">
                <a16:creationId xmlns:a16="http://schemas.microsoft.com/office/drawing/2014/main" id="{ECF93B5A-9C79-EC3F-6BF2-32DFCC531BA1}"/>
              </a:ext>
            </a:extLst>
          </p:cNvPr>
          <p:cNvSpPr>
            <a:spLocks noGrp="1"/>
          </p:cNvSpPr>
          <p:nvPr>
            <p:ph type="sldNum" sz="quarter" idx="12"/>
          </p:nvPr>
        </p:nvSpPr>
        <p:spPr/>
        <p:txBody>
          <a:bodyPr/>
          <a:lstStyle/>
          <a:p>
            <a:fld id="{5E2B771E-14A4-494A-A5EA-47FF963F6436}" type="slidenum">
              <a:rPr lang="en-TR" smtClean="0"/>
              <a:t>‹#›</a:t>
            </a:fld>
            <a:endParaRPr lang="en-TR"/>
          </a:p>
        </p:txBody>
      </p:sp>
    </p:spTree>
    <p:extLst>
      <p:ext uri="{BB962C8B-B14F-4D97-AF65-F5344CB8AC3E}">
        <p14:creationId xmlns:p14="http://schemas.microsoft.com/office/powerpoint/2010/main" val="3584080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59BE92-F704-FE93-5A51-39F3DCC1A293}"/>
              </a:ext>
            </a:extLst>
          </p:cNvPr>
          <p:cNvSpPr>
            <a:spLocks noGrp="1"/>
          </p:cNvSpPr>
          <p:nvPr>
            <p:ph type="dt" sz="half" idx="10"/>
          </p:nvPr>
        </p:nvSpPr>
        <p:spPr/>
        <p:txBody>
          <a:bodyPr/>
          <a:lstStyle/>
          <a:p>
            <a:fld id="{F0D890A3-D829-2749-9D70-287C11AFFBFB}" type="datetimeFigureOut">
              <a:rPr lang="en-TR" smtClean="0"/>
              <a:t>30.04.2026</a:t>
            </a:fld>
            <a:endParaRPr lang="en-TR"/>
          </a:p>
        </p:txBody>
      </p:sp>
      <p:sp>
        <p:nvSpPr>
          <p:cNvPr id="3" name="Footer Placeholder 2">
            <a:extLst>
              <a:ext uri="{FF2B5EF4-FFF2-40B4-BE49-F238E27FC236}">
                <a16:creationId xmlns:a16="http://schemas.microsoft.com/office/drawing/2014/main" id="{04665886-48CC-7EFC-50C8-7A77609C07DB}"/>
              </a:ext>
            </a:extLst>
          </p:cNvPr>
          <p:cNvSpPr>
            <a:spLocks noGrp="1"/>
          </p:cNvSpPr>
          <p:nvPr>
            <p:ph type="ftr" sz="quarter" idx="11"/>
          </p:nvPr>
        </p:nvSpPr>
        <p:spPr/>
        <p:txBody>
          <a:bodyPr/>
          <a:lstStyle/>
          <a:p>
            <a:endParaRPr lang="en-TR"/>
          </a:p>
        </p:txBody>
      </p:sp>
      <p:sp>
        <p:nvSpPr>
          <p:cNvPr id="4" name="Slide Number Placeholder 3">
            <a:extLst>
              <a:ext uri="{FF2B5EF4-FFF2-40B4-BE49-F238E27FC236}">
                <a16:creationId xmlns:a16="http://schemas.microsoft.com/office/drawing/2014/main" id="{7840216A-7105-27F8-F482-1676B0C0F54B}"/>
              </a:ext>
            </a:extLst>
          </p:cNvPr>
          <p:cNvSpPr>
            <a:spLocks noGrp="1"/>
          </p:cNvSpPr>
          <p:nvPr>
            <p:ph type="sldNum" sz="quarter" idx="12"/>
          </p:nvPr>
        </p:nvSpPr>
        <p:spPr/>
        <p:txBody>
          <a:bodyPr/>
          <a:lstStyle/>
          <a:p>
            <a:fld id="{5E2B771E-14A4-494A-A5EA-47FF963F6436}" type="slidenum">
              <a:rPr lang="en-TR" smtClean="0"/>
              <a:t>‹#›</a:t>
            </a:fld>
            <a:endParaRPr lang="en-TR"/>
          </a:p>
        </p:txBody>
      </p:sp>
    </p:spTree>
    <p:extLst>
      <p:ext uri="{BB962C8B-B14F-4D97-AF65-F5344CB8AC3E}">
        <p14:creationId xmlns:p14="http://schemas.microsoft.com/office/powerpoint/2010/main" val="1120905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191E3-8C6C-DE9D-FF50-0A76553403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R"/>
          </a:p>
        </p:txBody>
      </p:sp>
      <p:sp>
        <p:nvSpPr>
          <p:cNvPr id="3" name="Content Placeholder 2">
            <a:extLst>
              <a:ext uri="{FF2B5EF4-FFF2-40B4-BE49-F238E27FC236}">
                <a16:creationId xmlns:a16="http://schemas.microsoft.com/office/drawing/2014/main" id="{77AA76CF-8FFF-22DA-170E-D626FA4B24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Text Placeholder 3">
            <a:extLst>
              <a:ext uri="{FF2B5EF4-FFF2-40B4-BE49-F238E27FC236}">
                <a16:creationId xmlns:a16="http://schemas.microsoft.com/office/drawing/2014/main" id="{9EDB3693-3144-3188-31CD-3FB9D5D69D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688C21-2C8D-C469-D69B-FF81BC769056}"/>
              </a:ext>
            </a:extLst>
          </p:cNvPr>
          <p:cNvSpPr>
            <a:spLocks noGrp="1"/>
          </p:cNvSpPr>
          <p:nvPr>
            <p:ph type="dt" sz="half" idx="10"/>
          </p:nvPr>
        </p:nvSpPr>
        <p:spPr/>
        <p:txBody>
          <a:bodyPr/>
          <a:lstStyle/>
          <a:p>
            <a:fld id="{F0D890A3-D829-2749-9D70-287C11AFFBFB}" type="datetimeFigureOut">
              <a:rPr lang="en-TR" smtClean="0"/>
              <a:t>30.04.2026</a:t>
            </a:fld>
            <a:endParaRPr lang="en-TR"/>
          </a:p>
        </p:txBody>
      </p:sp>
      <p:sp>
        <p:nvSpPr>
          <p:cNvPr id="6" name="Footer Placeholder 5">
            <a:extLst>
              <a:ext uri="{FF2B5EF4-FFF2-40B4-BE49-F238E27FC236}">
                <a16:creationId xmlns:a16="http://schemas.microsoft.com/office/drawing/2014/main" id="{E2FE9DE9-30AA-0A3C-5D20-49DBFDF6A0C9}"/>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54FBB5FC-C3D7-BE0A-CC5C-9A5DC48A7FB1}"/>
              </a:ext>
            </a:extLst>
          </p:cNvPr>
          <p:cNvSpPr>
            <a:spLocks noGrp="1"/>
          </p:cNvSpPr>
          <p:nvPr>
            <p:ph type="sldNum" sz="quarter" idx="12"/>
          </p:nvPr>
        </p:nvSpPr>
        <p:spPr/>
        <p:txBody>
          <a:bodyPr/>
          <a:lstStyle/>
          <a:p>
            <a:fld id="{5E2B771E-14A4-494A-A5EA-47FF963F6436}" type="slidenum">
              <a:rPr lang="en-TR" smtClean="0"/>
              <a:t>‹#›</a:t>
            </a:fld>
            <a:endParaRPr lang="en-TR"/>
          </a:p>
        </p:txBody>
      </p:sp>
    </p:spTree>
    <p:extLst>
      <p:ext uri="{BB962C8B-B14F-4D97-AF65-F5344CB8AC3E}">
        <p14:creationId xmlns:p14="http://schemas.microsoft.com/office/powerpoint/2010/main" val="1922417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8F014-5B10-0747-D3C0-CFA1C8E76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R"/>
          </a:p>
        </p:txBody>
      </p:sp>
      <p:sp>
        <p:nvSpPr>
          <p:cNvPr id="3" name="Picture Placeholder 2">
            <a:extLst>
              <a:ext uri="{FF2B5EF4-FFF2-40B4-BE49-F238E27FC236}">
                <a16:creationId xmlns:a16="http://schemas.microsoft.com/office/drawing/2014/main" id="{071DDCB5-4DB4-011F-0B5D-F143428D06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R"/>
          </a:p>
        </p:txBody>
      </p:sp>
      <p:sp>
        <p:nvSpPr>
          <p:cNvPr id="4" name="Text Placeholder 3">
            <a:extLst>
              <a:ext uri="{FF2B5EF4-FFF2-40B4-BE49-F238E27FC236}">
                <a16:creationId xmlns:a16="http://schemas.microsoft.com/office/drawing/2014/main" id="{45F3C06E-01E8-8E57-DC08-70799D9C28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F6286C-F32E-3DCD-0589-3A8CF050C9B2}"/>
              </a:ext>
            </a:extLst>
          </p:cNvPr>
          <p:cNvSpPr>
            <a:spLocks noGrp="1"/>
          </p:cNvSpPr>
          <p:nvPr>
            <p:ph type="dt" sz="half" idx="10"/>
          </p:nvPr>
        </p:nvSpPr>
        <p:spPr/>
        <p:txBody>
          <a:bodyPr/>
          <a:lstStyle/>
          <a:p>
            <a:fld id="{F0D890A3-D829-2749-9D70-287C11AFFBFB}" type="datetimeFigureOut">
              <a:rPr lang="en-TR" smtClean="0"/>
              <a:t>30.04.2026</a:t>
            </a:fld>
            <a:endParaRPr lang="en-TR"/>
          </a:p>
        </p:txBody>
      </p:sp>
      <p:sp>
        <p:nvSpPr>
          <p:cNvPr id="6" name="Footer Placeholder 5">
            <a:extLst>
              <a:ext uri="{FF2B5EF4-FFF2-40B4-BE49-F238E27FC236}">
                <a16:creationId xmlns:a16="http://schemas.microsoft.com/office/drawing/2014/main" id="{B7517709-9BE5-2432-B00E-EFC3E07ACF0C}"/>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BA445D28-BB43-6755-74D2-32D696F990A1}"/>
              </a:ext>
            </a:extLst>
          </p:cNvPr>
          <p:cNvSpPr>
            <a:spLocks noGrp="1"/>
          </p:cNvSpPr>
          <p:nvPr>
            <p:ph type="sldNum" sz="quarter" idx="12"/>
          </p:nvPr>
        </p:nvSpPr>
        <p:spPr/>
        <p:txBody>
          <a:bodyPr/>
          <a:lstStyle/>
          <a:p>
            <a:fld id="{5E2B771E-14A4-494A-A5EA-47FF963F6436}" type="slidenum">
              <a:rPr lang="en-TR" smtClean="0"/>
              <a:t>‹#›</a:t>
            </a:fld>
            <a:endParaRPr lang="en-TR"/>
          </a:p>
        </p:txBody>
      </p:sp>
    </p:spTree>
    <p:extLst>
      <p:ext uri="{BB962C8B-B14F-4D97-AF65-F5344CB8AC3E}">
        <p14:creationId xmlns:p14="http://schemas.microsoft.com/office/powerpoint/2010/main" val="461277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8C40-2C9C-A3D2-4319-089D61071A3B}"/>
              </a:ext>
            </a:extLst>
          </p:cNvPr>
          <p:cNvSpPr>
            <a:spLocks noGrp="1"/>
          </p:cNvSpPr>
          <p:nvPr>
            <p:ph type="title"/>
          </p:nvPr>
        </p:nvSpPr>
        <p:spPr/>
        <p:txBody>
          <a:bodyPr/>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34D1BF9F-8EAA-AECD-A7C0-52C15B8DDA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927E4E41-DE2E-A8C9-7234-A401F1A5A0D2}"/>
              </a:ext>
            </a:extLst>
          </p:cNvPr>
          <p:cNvSpPr>
            <a:spLocks noGrp="1"/>
          </p:cNvSpPr>
          <p:nvPr>
            <p:ph type="dt" sz="half" idx="10"/>
          </p:nvPr>
        </p:nvSpPr>
        <p:spPr/>
        <p:txBody>
          <a:bodyPr/>
          <a:lstStyle/>
          <a:p>
            <a:fld id="{F0D890A3-D829-2749-9D70-287C11AFFBFB}" type="datetimeFigureOut">
              <a:rPr lang="en-TR" smtClean="0"/>
              <a:t>30.04.2026</a:t>
            </a:fld>
            <a:endParaRPr lang="en-TR"/>
          </a:p>
        </p:txBody>
      </p:sp>
      <p:sp>
        <p:nvSpPr>
          <p:cNvPr id="5" name="Footer Placeholder 4">
            <a:extLst>
              <a:ext uri="{FF2B5EF4-FFF2-40B4-BE49-F238E27FC236}">
                <a16:creationId xmlns:a16="http://schemas.microsoft.com/office/drawing/2014/main" id="{3E381F83-554B-8197-F34C-0BBB8836E9C1}"/>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0830886A-C13F-94F0-300A-BFAB1D158E3B}"/>
              </a:ext>
            </a:extLst>
          </p:cNvPr>
          <p:cNvSpPr>
            <a:spLocks noGrp="1"/>
          </p:cNvSpPr>
          <p:nvPr>
            <p:ph type="sldNum" sz="quarter" idx="12"/>
          </p:nvPr>
        </p:nvSpPr>
        <p:spPr/>
        <p:txBody>
          <a:bodyPr/>
          <a:lstStyle/>
          <a:p>
            <a:fld id="{5E2B771E-14A4-494A-A5EA-47FF963F6436}" type="slidenum">
              <a:rPr lang="en-TR" smtClean="0"/>
              <a:t>‹#›</a:t>
            </a:fld>
            <a:endParaRPr lang="en-TR"/>
          </a:p>
        </p:txBody>
      </p:sp>
    </p:spTree>
    <p:extLst>
      <p:ext uri="{BB962C8B-B14F-4D97-AF65-F5344CB8AC3E}">
        <p14:creationId xmlns:p14="http://schemas.microsoft.com/office/powerpoint/2010/main" val="4223494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1F6CE9-CD3E-E56A-B1F5-315388542E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EC056B2F-E352-4C2B-30E7-52FA2C8D2E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6AEE55E8-D45E-E8C5-BCC0-4DEBD921159D}"/>
              </a:ext>
            </a:extLst>
          </p:cNvPr>
          <p:cNvSpPr>
            <a:spLocks noGrp="1"/>
          </p:cNvSpPr>
          <p:nvPr>
            <p:ph type="dt" sz="half" idx="10"/>
          </p:nvPr>
        </p:nvSpPr>
        <p:spPr/>
        <p:txBody>
          <a:bodyPr/>
          <a:lstStyle/>
          <a:p>
            <a:fld id="{F0D890A3-D829-2749-9D70-287C11AFFBFB}" type="datetimeFigureOut">
              <a:rPr lang="en-TR" smtClean="0"/>
              <a:t>30.04.2026</a:t>
            </a:fld>
            <a:endParaRPr lang="en-TR"/>
          </a:p>
        </p:txBody>
      </p:sp>
      <p:sp>
        <p:nvSpPr>
          <p:cNvPr id="5" name="Footer Placeholder 4">
            <a:extLst>
              <a:ext uri="{FF2B5EF4-FFF2-40B4-BE49-F238E27FC236}">
                <a16:creationId xmlns:a16="http://schemas.microsoft.com/office/drawing/2014/main" id="{49867951-0E70-AB76-9CAE-AEDCB052A3F5}"/>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8BA0DB6A-2792-02E7-53D7-8B77F7C7D9B9}"/>
              </a:ext>
            </a:extLst>
          </p:cNvPr>
          <p:cNvSpPr>
            <a:spLocks noGrp="1"/>
          </p:cNvSpPr>
          <p:nvPr>
            <p:ph type="sldNum" sz="quarter" idx="12"/>
          </p:nvPr>
        </p:nvSpPr>
        <p:spPr/>
        <p:txBody>
          <a:bodyPr/>
          <a:lstStyle/>
          <a:p>
            <a:fld id="{5E2B771E-14A4-494A-A5EA-47FF963F6436}" type="slidenum">
              <a:rPr lang="en-TR" smtClean="0"/>
              <a:t>‹#›</a:t>
            </a:fld>
            <a:endParaRPr lang="en-TR"/>
          </a:p>
        </p:txBody>
      </p:sp>
    </p:spTree>
    <p:extLst>
      <p:ext uri="{BB962C8B-B14F-4D97-AF65-F5344CB8AC3E}">
        <p14:creationId xmlns:p14="http://schemas.microsoft.com/office/powerpoint/2010/main" val="9182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5DCA3D-547B-61D8-57BA-68808A9D41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R"/>
          </a:p>
        </p:txBody>
      </p:sp>
      <p:sp>
        <p:nvSpPr>
          <p:cNvPr id="3" name="Text Placeholder 2">
            <a:extLst>
              <a:ext uri="{FF2B5EF4-FFF2-40B4-BE49-F238E27FC236}">
                <a16:creationId xmlns:a16="http://schemas.microsoft.com/office/drawing/2014/main" id="{F9C6CE63-9C08-91FF-65F0-BB30D5405C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013412E6-1A68-EEF7-1037-AB73B3D234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D890A3-D829-2749-9D70-287C11AFFBFB}" type="datetimeFigureOut">
              <a:rPr lang="en-TR" smtClean="0"/>
              <a:t>30.04.2026</a:t>
            </a:fld>
            <a:endParaRPr lang="en-TR"/>
          </a:p>
        </p:txBody>
      </p:sp>
      <p:sp>
        <p:nvSpPr>
          <p:cNvPr id="5" name="Footer Placeholder 4">
            <a:extLst>
              <a:ext uri="{FF2B5EF4-FFF2-40B4-BE49-F238E27FC236}">
                <a16:creationId xmlns:a16="http://schemas.microsoft.com/office/drawing/2014/main" id="{B6745B4C-0939-C15F-C9FA-5FE33A9CD3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R"/>
          </a:p>
        </p:txBody>
      </p:sp>
      <p:sp>
        <p:nvSpPr>
          <p:cNvPr id="6" name="Slide Number Placeholder 5">
            <a:extLst>
              <a:ext uri="{FF2B5EF4-FFF2-40B4-BE49-F238E27FC236}">
                <a16:creationId xmlns:a16="http://schemas.microsoft.com/office/drawing/2014/main" id="{3DFCA308-6885-C359-B6FD-045B0AAA32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2B771E-14A4-494A-A5EA-47FF963F6436}" type="slidenum">
              <a:rPr lang="en-TR" smtClean="0"/>
              <a:t>‹#›</a:t>
            </a:fld>
            <a:endParaRPr lang="en-TR"/>
          </a:p>
        </p:txBody>
      </p:sp>
    </p:spTree>
    <p:extLst>
      <p:ext uri="{BB962C8B-B14F-4D97-AF65-F5344CB8AC3E}">
        <p14:creationId xmlns:p14="http://schemas.microsoft.com/office/powerpoint/2010/main" val="1547529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code.visualstudio.com/" TargetMode="External"/><Relationship Id="rId3" Type="http://schemas.openxmlformats.org/officeDocument/2006/relationships/hyperlink" Target="https://www.psychopy.org/documentation.html" TargetMode="External"/><Relationship Id="rId7" Type="http://schemas.openxmlformats.org/officeDocument/2006/relationships/hyperlink" Target="https://gitlab.pavlovia.org/alaz/stroop" TargetMode="External"/><Relationship Id="rId2" Type="http://schemas.openxmlformats.org/officeDocument/2006/relationships/hyperlink" Target="https://www.psychopy.org/download.html" TargetMode="External"/><Relationship Id="rId1" Type="http://schemas.openxmlformats.org/officeDocument/2006/relationships/slideLayout" Target="../slideLayouts/slideLayout2.xml"/><Relationship Id="rId6" Type="http://schemas.openxmlformats.org/officeDocument/2006/relationships/hyperlink" Target="https://github.com/alazaydin" TargetMode="External"/><Relationship Id="rId11" Type="http://schemas.openxmlformats.org/officeDocument/2006/relationships/image" Target="../media/image1.png"/><Relationship Id="rId5" Type="http://schemas.openxmlformats.org/officeDocument/2006/relationships/hyperlink" Target="https://pavlovia.org/" TargetMode="External"/><Relationship Id="rId10" Type="http://schemas.openxmlformats.org/officeDocument/2006/relationships/hyperlink" Target="https://docs.conda.io/projects/conda/en/latest/user-guide/install/index.html" TargetMode="External"/><Relationship Id="rId4" Type="http://schemas.openxmlformats.org/officeDocument/2006/relationships/hyperlink" Target="https://www.youtube.com/channel/UCQo2aB6cXJasHyXJp0afaWg" TargetMode="External"/><Relationship Id="rId9" Type="http://schemas.openxmlformats.org/officeDocument/2006/relationships/hyperlink" Target="https://jupyter.or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osf.io/" TargetMode="External"/><Relationship Id="rId2" Type="http://schemas.openxmlformats.org/officeDocument/2006/relationships/hyperlink" Target="https://pavlovia.org/explor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131F6-1908-8270-A740-5870FC1D700D}"/>
              </a:ext>
            </a:extLst>
          </p:cNvPr>
          <p:cNvSpPr>
            <a:spLocks noGrp="1"/>
          </p:cNvSpPr>
          <p:nvPr>
            <p:ph type="ctrTitle"/>
          </p:nvPr>
        </p:nvSpPr>
        <p:spPr/>
        <p:txBody>
          <a:bodyPr/>
          <a:lstStyle/>
          <a:p>
            <a:r>
              <a:rPr lang="en-TR" dirty="0"/>
              <a:t>PsychoPy</a:t>
            </a:r>
          </a:p>
        </p:txBody>
      </p:sp>
      <p:sp>
        <p:nvSpPr>
          <p:cNvPr id="3" name="Subtitle 2">
            <a:extLst>
              <a:ext uri="{FF2B5EF4-FFF2-40B4-BE49-F238E27FC236}">
                <a16:creationId xmlns:a16="http://schemas.microsoft.com/office/drawing/2014/main" id="{796D7498-C95B-F76A-62A4-49C920A9B15F}"/>
              </a:ext>
            </a:extLst>
          </p:cNvPr>
          <p:cNvSpPr>
            <a:spLocks noGrp="1"/>
          </p:cNvSpPr>
          <p:nvPr>
            <p:ph type="subTitle" idx="1"/>
          </p:nvPr>
        </p:nvSpPr>
        <p:spPr/>
        <p:txBody>
          <a:bodyPr/>
          <a:lstStyle/>
          <a:p>
            <a:r>
              <a:rPr lang="en-TR" dirty="0"/>
              <a:t>COGS 508 – Tutorial 1</a:t>
            </a:r>
          </a:p>
        </p:txBody>
      </p:sp>
    </p:spTree>
    <p:extLst>
      <p:ext uri="{BB962C8B-B14F-4D97-AF65-F5344CB8AC3E}">
        <p14:creationId xmlns:p14="http://schemas.microsoft.com/office/powerpoint/2010/main" val="953666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6C7CB-3B74-BF75-25ED-20C5A47D381B}"/>
              </a:ext>
            </a:extLst>
          </p:cNvPr>
          <p:cNvSpPr>
            <a:spLocks noGrp="1"/>
          </p:cNvSpPr>
          <p:nvPr>
            <p:ph type="title"/>
          </p:nvPr>
        </p:nvSpPr>
        <p:spPr>
          <a:xfrm>
            <a:off x="838200" y="2766218"/>
            <a:ext cx="10515600" cy="1325563"/>
          </a:xfrm>
        </p:spPr>
        <p:txBody>
          <a:bodyPr/>
          <a:lstStyle/>
          <a:p>
            <a:pPr algn="ctr"/>
            <a:r>
              <a:rPr lang="en-TR" dirty="0"/>
              <a:t>Motivations</a:t>
            </a:r>
          </a:p>
        </p:txBody>
      </p:sp>
    </p:spTree>
    <p:extLst>
      <p:ext uri="{BB962C8B-B14F-4D97-AF65-F5344CB8AC3E}">
        <p14:creationId xmlns:p14="http://schemas.microsoft.com/office/powerpoint/2010/main" val="1385703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1B897-943C-5643-1C20-764172489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8F0EB-1B99-0CEA-5EB0-3444B69427FF}"/>
              </a:ext>
            </a:extLst>
          </p:cNvPr>
          <p:cNvSpPr>
            <a:spLocks noGrp="1"/>
          </p:cNvSpPr>
          <p:nvPr>
            <p:ph type="title"/>
          </p:nvPr>
        </p:nvSpPr>
        <p:spPr>
          <a:xfrm>
            <a:off x="838200" y="2766218"/>
            <a:ext cx="10515600" cy="1325563"/>
          </a:xfrm>
        </p:spPr>
        <p:txBody>
          <a:bodyPr/>
          <a:lstStyle/>
          <a:p>
            <a:pPr algn="ctr"/>
            <a:r>
              <a:rPr lang="en-TR" dirty="0"/>
              <a:t>Experiments</a:t>
            </a:r>
          </a:p>
        </p:txBody>
      </p:sp>
    </p:spTree>
    <p:extLst>
      <p:ext uri="{BB962C8B-B14F-4D97-AF65-F5344CB8AC3E}">
        <p14:creationId xmlns:p14="http://schemas.microsoft.com/office/powerpoint/2010/main" val="1757117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F5C55-9336-C353-965D-4DA7ECA1F909}"/>
              </a:ext>
            </a:extLst>
          </p:cNvPr>
          <p:cNvSpPr>
            <a:spLocks noGrp="1"/>
          </p:cNvSpPr>
          <p:nvPr>
            <p:ph type="title"/>
          </p:nvPr>
        </p:nvSpPr>
        <p:spPr/>
        <p:txBody>
          <a:bodyPr/>
          <a:lstStyle/>
          <a:p>
            <a:r>
              <a:rPr lang="en-TR" dirty="0"/>
              <a:t>Resources</a:t>
            </a:r>
          </a:p>
        </p:txBody>
      </p:sp>
      <p:sp>
        <p:nvSpPr>
          <p:cNvPr id="3" name="Content Placeholder 2">
            <a:extLst>
              <a:ext uri="{FF2B5EF4-FFF2-40B4-BE49-F238E27FC236}">
                <a16:creationId xmlns:a16="http://schemas.microsoft.com/office/drawing/2014/main" id="{6D0B4BC5-3D35-73D5-7C11-01EEC652745B}"/>
              </a:ext>
            </a:extLst>
          </p:cNvPr>
          <p:cNvSpPr>
            <a:spLocks noGrp="1"/>
          </p:cNvSpPr>
          <p:nvPr>
            <p:ph idx="1"/>
          </p:nvPr>
        </p:nvSpPr>
        <p:spPr>
          <a:xfrm>
            <a:off x="417786" y="1909708"/>
            <a:ext cx="6371897" cy="4351338"/>
          </a:xfrm>
        </p:spPr>
        <p:txBody>
          <a:bodyPr>
            <a:normAutofit fontScale="85000" lnSpcReduction="20000"/>
          </a:bodyPr>
          <a:lstStyle/>
          <a:p>
            <a:r>
              <a:rPr lang="en-US" dirty="0">
                <a:hlinkClick r:id="rId2"/>
              </a:rPr>
              <a:t>https://www.psychopy.org/download.html</a:t>
            </a:r>
            <a:endParaRPr lang="en-US" dirty="0"/>
          </a:p>
          <a:p>
            <a:r>
              <a:rPr lang="en-US" dirty="0">
                <a:hlinkClick r:id="rId3"/>
              </a:rPr>
              <a:t>https://www.psychopy.org/documentation.html</a:t>
            </a:r>
            <a:endParaRPr lang="en-US" dirty="0"/>
          </a:p>
          <a:p>
            <a:r>
              <a:rPr lang="en-US" dirty="0">
                <a:hlinkClick r:id="rId4"/>
              </a:rPr>
              <a:t>https://www.youtube.com/channel/UCQo2aB6cXJasHyXJp0afaWg</a:t>
            </a:r>
            <a:endParaRPr lang="en-US" dirty="0"/>
          </a:p>
          <a:p>
            <a:r>
              <a:rPr lang="en-US" dirty="0">
                <a:hlinkClick r:id="rId5"/>
              </a:rPr>
              <a:t>https://pavlovia.org/</a:t>
            </a:r>
            <a:endParaRPr lang="en-US" dirty="0"/>
          </a:p>
          <a:p>
            <a:r>
              <a:rPr lang="en-US" dirty="0">
                <a:hlinkClick r:id="rId6"/>
              </a:rPr>
              <a:t>https://github.com/alazaydin</a:t>
            </a:r>
            <a:endParaRPr lang="en-US" dirty="0"/>
          </a:p>
          <a:p>
            <a:r>
              <a:rPr lang="en-US" dirty="0">
                <a:hlinkClick r:id="rId7"/>
              </a:rPr>
              <a:t>https://gitlab.pavlovia.org/alaz/stroop</a:t>
            </a:r>
            <a:endParaRPr lang="en-US" dirty="0"/>
          </a:p>
          <a:p>
            <a:r>
              <a:rPr lang="en-US" dirty="0">
                <a:hlinkClick r:id="rId8"/>
              </a:rPr>
              <a:t>https://code.visualstudio.com/</a:t>
            </a:r>
            <a:endParaRPr lang="en-US" dirty="0"/>
          </a:p>
          <a:p>
            <a:r>
              <a:rPr lang="en-US" dirty="0">
                <a:hlinkClick r:id="rId9"/>
              </a:rPr>
              <a:t>https://jupyter.org/</a:t>
            </a:r>
            <a:endParaRPr lang="en-US" dirty="0"/>
          </a:p>
          <a:p>
            <a:r>
              <a:rPr lang="en-US" dirty="0">
                <a:hlinkClick r:id="rId10"/>
              </a:rPr>
              <a:t>https://docs.conda.io/projects/conda/en/latest/user-guide/install/index.html</a:t>
            </a:r>
            <a:endParaRPr lang="en-US" dirty="0"/>
          </a:p>
          <a:p>
            <a:pPr marL="0" indent="0">
              <a:buNone/>
            </a:pPr>
            <a:endParaRPr lang="en-US" dirty="0"/>
          </a:p>
          <a:p>
            <a:endParaRPr lang="en-TR" dirty="0"/>
          </a:p>
        </p:txBody>
      </p:sp>
      <p:pic>
        <p:nvPicPr>
          <p:cNvPr id="4" name="Picture 3">
            <a:extLst>
              <a:ext uri="{FF2B5EF4-FFF2-40B4-BE49-F238E27FC236}">
                <a16:creationId xmlns:a16="http://schemas.microsoft.com/office/drawing/2014/main" id="{EF5C28E9-57CE-76E1-3662-1C0BC751E688}"/>
              </a:ext>
            </a:extLst>
          </p:cNvPr>
          <p:cNvPicPr>
            <a:picLocks noChangeAspect="1"/>
          </p:cNvPicPr>
          <p:nvPr/>
        </p:nvPicPr>
        <p:blipFill>
          <a:blip r:embed="rId11"/>
          <a:stretch>
            <a:fillRect/>
          </a:stretch>
        </p:blipFill>
        <p:spPr>
          <a:xfrm>
            <a:off x="7160571" y="0"/>
            <a:ext cx="4912789" cy="6858000"/>
          </a:xfrm>
          <a:prstGeom prst="rect">
            <a:avLst/>
          </a:prstGeom>
        </p:spPr>
      </p:pic>
    </p:spTree>
    <p:extLst>
      <p:ext uri="{BB962C8B-B14F-4D97-AF65-F5344CB8AC3E}">
        <p14:creationId xmlns:p14="http://schemas.microsoft.com/office/powerpoint/2010/main" val="438198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A3D3F-39E5-0598-1D85-0F7FD8C08E0B}"/>
              </a:ext>
            </a:extLst>
          </p:cNvPr>
          <p:cNvSpPr>
            <a:spLocks noGrp="1"/>
          </p:cNvSpPr>
          <p:nvPr>
            <p:ph type="title"/>
          </p:nvPr>
        </p:nvSpPr>
        <p:spPr/>
        <p:txBody>
          <a:bodyPr/>
          <a:lstStyle/>
          <a:p>
            <a:r>
              <a:rPr lang="en-TR" dirty="0"/>
              <a:t>PsychoPy</a:t>
            </a:r>
          </a:p>
        </p:txBody>
      </p:sp>
      <p:sp>
        <p:nvSpPr>
          <p:cNvPr id="3" name="Content Placeholder 2">
            <a:extLst>
              <a:ext uri="{FF2B5EF4-FFF2-40B4-BE49-F238E27FC236}">
                <a16:creationId xmlns:a16="http://schemas.microsoft.com/office/drawing/2014/main" id="{3DDA1BA3-0BFE-67FE-C291-04B214021607}"/>
              </a:ext>
            </a:extLst>
          </p:cNvPr>
          <p:cNvSpPr>
            <a:spLocks noGrp="1"/>
          </p:cNvSpPr>
          <p:nvPr>
            <p:ph idx="1"/>
          </p:nvPr>
        </p:nvSpPr>
        <p:spPr>
          <a:xfrm>
            <a:off x="838200" y="1800911"/>
            <a:ext cx="4837386" cy="4351338"/>
          </a:xfrm>
        </p:spPr>
        <p:txBody>
          <a:bodyPr>
            <a:normAutofit fontScale="70000" lnSpcReduction="20000"/>
          </a:bodyPr>
          <a:lstStyle/>
          <a:p>
            <a:r>
              <a:rPr lang="en-US" dirty="0" err="1"/>
              <a:t>psychopy</a:t>
            </a:r>
            <a:r>
              <a:rPr lang="en-US" dirty="0"/>
              <a:t> has two interfaces:</a:t>
            </a:r>
          </a:p>
          <a:p>
            <a:pPr marL="0" indent="0">
              <a:buNone/>
            </a:pPr>
            <a:r>
              <a:rPr lang="en-US" dirty="0"/>
              <a:t>1. builder interface</a:t>
            </a:r>
          </a:p>
          <a:p>
            <a:pPr marL="0" indent="0">
              <a:buNone/>
            </a:pPr>
            <a:r>
              <a:rPr lang="en-US" dirty="0"/>
              <a:t>2. a code editor</a:t>
            </a:r>
          </a:p>
          <a:p>
            <a:r>
              <a:rPr lang="en-US" dirty="0"/>
              <a:t> "many users (including ourselves) use a combined approach, whereby they construct the bulk of the experiment in the Builder view (because the nature of one trial and the saving of data are usually fairly straightforward) and then simply add Code Components to handle aspects that aren’t easy to construct graphically (like the randomization method).”</a:t>
            </a:r>
          </a:p>
          <a:p>
            <a:r>
              <a:rPr lang="en-US" dirty="0"/>
              <a:t>Use </a:t>
            </a:r>
            <a:r>
              <a:rPr lang="en-US" dirty="0" err="1"/>
              <a:t>Pavlovia</a:t>
            </a:r>
            <a:r>
              <a:rPr lang="en-US" dirty="0"/>
              <a:t> to take experiments online</a:t>
            </a:r>
          </a:p>
          <a:p>
            <a:r>
              <a:rPr lang="en-US" dirty="0"/>
              <a:t>And </a:t>
            </a:r>
            <a:r>
              <a:rPr lang="en-US" dirty="0" err="1"/>
              <a:t>gitlab</a:t>
            </a:r>
            <a:r>
              <a:rPr lang="en-US" dirty="0"/>
              <a:t>/</a:t>
            </a:r>
            <a:r>
              <a:rPr lang="en-US" dirty="0" err="1"/>
              <a:t>github</a:t>
            </a:r>
            <a:r>
              <a:rPr lang="en-US" dirty="0"/>
              <a:t> to share projects</a:t>
            </a:r>
          </a:p>
          <a:p>
            <a:endParaRPr lang="en-TR" dirty="0"/>
          </a:p>
        </p:txBody>
      </p:sp>
      <p:pic>
        <p:nvPicPr>
          <p:cNvPr id="4" name="Picture 3">
            <a:extLst>
              <a:ext uri="{FF2B5EF4-FFF2-40B4-BE49-F238E27FC236}">
                <a16:creationId xmlns:a16="http://schemas.microsoft.com/office/drawing/2014/main" id="{BD18AF71-EC74-BA47-B3B8-EA7C658A7E5F}"/>
              </a:ext>
            </a:extLst>
          </p:cNvPr>
          <p:cNvPicPr>
            <a:picLocks noChangeAspect="1"/>
          </p:cNvPicPr>
          <p:nvPr/>
        </p:nvPicPr>
        <p:blipFill>
          <a:blip r:embed="rId2"/>
          <a:stretch>
            <a:fillRect/>
          </a:stretch>
        </p:blipFill>
        <p:spPr>
          <a:xfrm>
            <a:off x="5675586" y="-213900"/>
            <a:ext cx="5636796" cy="3420079"/>
          </a:xfrm>
          <a:prstGeom prst="rect">
            <a:avLst/>
          </a:prstGeom>
        </p:spPr>
      </p:pic>
      <p:pic>
        <p:nvPicPr>
          <p:cNvPr id="5" name="Picture 4">
            <a:extLst>
              <a:ext uri="{FF2B5EF4-FFF2-40B4-BE49-F238E27FC236}">
                <a16:creationId xmlns:a16="http://schemas.microsoft.com/office/drawing/2014/main" id="{EBF53BB1-6BB9-8D5E-EB28-DD7832C173C2}"/>
              </a:ext>
            </a:extLst>
          </p:cNvPr>
          <p:cNvPicPr>
            <a:picLocks noChangeAspect="1"/>
          </p:cNvPicPr>
          <p:nvPr/>
        </p:nvPicPr>
        <p:blipFill>
          <a:blip r:embed="rId3"/>
          <a:stretch>
            <a:fillRect/>
          </a:stretch>
        </p:blipFill>
        <p:spPr>
          <a:xfrm>
            <a:off x="5675586" y="3230893"/>
            <a:ext cx="5636796" cy="3883436"/>
          </a:xfrm>
          <a:prstGeom prst="rect">
            <a:avLst/>
          </a:prstGeom>
        </p:spPr>
      </p:pic>
    </p:spTree>
    <p:extLst>
      <p:ext uri="{BB962C8B-B14F-4D97-AF65-F5344CB8AC3E}">
        <p14:creationId xmlns:p14="http://schemas.microsoft.com/office/powerpoint/2010/main" val="2116831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A56F-DA2B-BC37-8238-FAC38C287F8F}"/>
              </a:ext>
            </a:extLst>
          </p:cNvPr>
          <p:cNvSpPr>
            <a:spLocks noGrp="1"/>
          </p:cNvSpPr>
          <p:nvPr>
            <p:ph type="title"/>
          </p:nvPr>
        </p:nvSpPr>
        <p:spPr/>
        <p:txBody>
          <a:bodyPr/>
          <a:lstStyle/>
          <a:p>
            <a:r>
              <a:rPr lang="en-TR" dirty="0"/>
              <a:t>Designing Experiments</a:t>
            </a:r>
          </a:p>
        </p:txBody>
      </p:sp>
      <p:sp>
        <p:nvSpPr>
          <p:cNvPr id="3" name="Content Placeholder 2">
            <a:extLst>
              <a:ext uri="{FF2B5EF4-FFF2-40B4-BE49-F238E27FC236}">
                <a16:creationId xmlns:a16="http://schemas.microsoft.com/office/drawing/2014/main" id="{3DDFD0F3-EC90-6A97-9CA7-B34A2A85CC36}"/>
              </a:ext>
            </a:extLst>
          </p:cNvPr>
          <p:cNvSpPr>
            <a:spLocks noGrp="1"/>
          </p:cNvSpPr>
          <p:nvPr>
            <p:ph idx="1"/>
          </p:nvPr>
        </p:nvSpPr>
        <p:spPr/>
        <p:txBody>
          <a:bodyPr>
            <a:normAutofit fontScale="92500" lnSpcReduction="20000"/>
          </a:bodyPr>
          <a:lstStyle/>
          <a:p>
            <a:r>
              <a:rPr lang="en-US" dirty="0"/>
              <a:t>physical limits:</a:t>
            </a:r>
          </a:p>
          <a:p>
            <a:pPr lvl="1"/>
            <a:r>
              <a:rPr lang="en-US" dirty="0"/>
              <a:t>refresh rate: e.g. 60Hz. what range of stimuli durations can you present?</a:t>
            </a:r>
          </a:p>
          <a:p>
            <a:pPr lvl="1"/>
            <a:r>
              <a:rPr lang="en-US" dirty="0"/>
              <a:t>monitor type: organic light emitting diodes, cathode ray tubes</a:t>
            </a:r>
          </a:p>
          <a:p>
            <a:pPr lvl="1"/>
            <a:r>
              <a:rPr lang="en-US" dirty="0"/>
              <a:t>keyboard timing: recording responses take time (around 30ms, and variable within 15ms)</a:t>
            </a:r>
          </a:p>
          <a:p>
            <a:pPr lvl="1"/>
            <a:r>
              <a:rPr lang="en-US" dirty="0"/>
              <a:t>presentation requires time: e.g. a 5MP image (RGB) = 3 x 5 = 15 million numbers should be presented</a:t>
            </a:r>
          </a:p>
          <a:p>
            <a:r>
              <a:rPr lang="en-US" dirty="0"/>
              <a:t>solutions:</a:t>
            </a:r>
          </a:p>
          <a:p>
            <a:pPr lvl="1"/>
            <a:r>
              <a:rPr lang="en-US" dirty="0"/>
              <a:t>present stimuli in multiples of frame intervals</a:t>
            </a:r>
          </a:p>
          <a:p>
            <a:pPr lvl="1"/>
            <a:r>
              <a:rPr lang="en-US" dirty="0"/>
              <a:t>buy button boxes that allow for more precise timing of responses</a:t>
            </a:r>
          </a:p>
          <a:p>
            <a:pPr lvl="1"/>
            <a:r>
              <a:rPr lang="en-US" dirty="0"/>
              <a:t>image files can be preloaded and can be much smaller than you might think, with no loss of quality</a:t>
            </a:r>
          </a:p>
          <a:p>
            <a:r>
              <a:rPr lang="en-US" dirty="0"/>
              <a:t>probably not required</a:t>
            </a:r>
          </a:p>
          <a:p>
            <a:endParaRPr lang="en-TR" dirty="0"/>
          </a:p>
        </p:txBody>
      </p:sp>
    </p:spTree>
    <p:extLst>
      <p:ext uri="{BB962C8B-B14F-4D97-AF65-F5344CB8AC3E}">
        <p14:creationId xmlns:p14="http://schemas.microsoft.com/office/powerpoint/2010/main" val="1745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ED36E-6AFC-CC3E-5074-895F6E69A822}"/>
              </a:ext>
            </a:extLst>
          </p:cNvPr>
          <p:cNvSpPr>
            <a:spLocks noGrp="1"/>
          </p:cNvSpPr>
          <p:nvPr>
            <p:ph type="title"/>
          </p:nvPr>
        </p:nvSpPr>
        <p:spPr/>
        <p:txBody>
          <a:bodyPr/>
          <a:lstStyle/>
          <a:p>
            <a:r>
              <a:rPr lang="en-TR" dirty="0"/>
              <a:t>PsychoPy</a:t>
            </a:r>
          </a:p>
        </p:txBody>
      </p:sp>
      <p:sp>
        <p:nvSpPr>
          <p:cNvPr id="3" name="Content Placeholder 2">
            <a:extLst>
              <a:ext uri="{FF2B5EF4-FFF2-40B4-BE49-F238E27FC236}">
                <a16:creationId xmlns:a16="http://schemas.microsoft.com/office/drawing/2014/main" id="{6B99711C-9497-B278-95DF-2C29E6AE09AF}"/>
              </a:ext>
            </a:extLst>
          </p:cNvPr>
          <p:cNvSpPr>
            <a:spLocks noGrp="1"/>
          </p:cNvSpPr>
          <p:nvPr>
            <p:ph idx="1"/>
          </p:nvPr>
        </p:nvSpPr>
        <p:spPr/>
        <p:txBody>
          <a:bodyPr>
            <a:normAutofit lnSpcReduction="10000"/>
          </a:bodyPr>
          <a:lstStyle/>
          <a:p>
            <a:endParaRPr lang="en-US" dirty="0"/>
          </a:p>
          <a:p>
            <a:r>
              <a:rPr lang="en-US" dirty="0"/>
              <a:t>A </a:t>
            </a:r>
            <a:r>
              <a:rPr lang="en-US" b="1" dirty="0"/>
              <a:t>library</a:t>
            </a:r>
            <a:r>
              <a:rPr lang="en-US" dirty="0"/>
              <a:t> for the Python programming language.</a:t>
            </a:r>
          </a:p>
          <a:p>
            <a:r>
              <a:rPr lang="en-US" dirty="0"/>
              <a:t>A </a:t>
            </a:r>
            <a:r>
              <a:rPr lang="en-US" b="1" dirty="0"/>
              <a:t>distribution</a:t>
            </a:r>
            <a:r>
              <a:rPr lang="en-US" dirty="0"/>
              <a:t> of the Python programming language (the Standalone installers install Python and many dependent libraries so that you don’t need to and your own installation of Python won’t be affected).</a:t>
            </a:r>
          </a:p>
          <a:p>
            <a:r>
              <a:rPr lang="en-US" dirty="0"/>
              <a:t>A </a:t>
            </a:r>
            <a:r>
              <a:rPr lang="en-US" b="1" dirty="0"/>
              <a:t>code editor</a:t>
            </a:r>
            <a:r>
              <a:rPr lang="en-US" dirty="0"/>
              <a:t> (cunningly called ‘Coder’) that, as it happens, was also written in the Python programming language.</a:t>
            </a:r>
          </a:p>
          <a:p>
            <a:r>
              <a:rPr lang="en-US" dirty="0"/>
              <a:t>A </a:t>
            </a:r>
            <a:r>
              <a:rPr lang="en-US" b="1" dirty="0"/>
              <a:t>graphical interface </a:t>
            </a:r>
            <a:r>
              <a:rPr lang="en-US" dirty="0"/>
              <a:t>(called ‘Builder’) for converting visual representations of experiments into computer code.</a:t>
            </a:r>
            <a:endParaRPr lang="en-TR" dirty="0"/>
          </a:p>
        </p:txBody>
      </p:sp>
    </p:spTree>
    <p:extLst>
      <p:ext uri="{BB962C8B-B14F-4D97-AF65-F5344CB8AC3E}">
        <p14:creationId xmlns:p14="http://schemas.microsoft.com/office/powerpoint/2010/main" val="32468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A5545-4738-07F2-5369-60A0B1A4FCB6}"/>
              </a:ext>
            </a:extLst>
          </p:cNvPr>
          <p:cNvSpPr>
            <a:spLocks noGrp="1"/>
          </p:cNvSpPr>
          <p:nvPr>
            <p:ph type="title"/>
          </p:nvPr>
        </p:nvSpPr>
        <p:spPr/>
        <p:txBody>
          <a:bodyPr/>
          <a:lstStyle/>
          <a:p>
            <a:r>
              <a:rPr lang="en-TR" dirty="0"/>
              <a:t>Python</a:t>
            </a:r>
          </a:p>
        </p:txBody>
      </p:sp>
      <p:sp>
        <p:nvSpPr>
          <p:cNvPr id="3" name="Content Placeholder 2">
            <a:extLst>
              <a:ext uri="{FF2B5EF4-FFF2-40B4-BE49-F238E27FC236}">
                <a16:creationId xmlns:a16="http://schemas.microsoft.com/office/drawing/2014/main" id="{FD2C7CEF-FA8C-2421-E27F-7A146702C470}"/>
              </a:ext>
            </a:extLst>
          </p:cNvPr>
          <p:cNvSpPr>
            <a:spLocks noGrp="1"/>
          </p:cNvSpPr>
          <p:nvPr>
            <p:ph idx="1"/>
          </p:nvPr>
        </p:nvSpPr>
        <p:spPr/>
        <p:txBody>
          <a:bodyPr/>
          <a:lstStyle/>
          <a:p>
            <a:r>
              <a:rPr lang="en-US" b="1" dirty="0"/>
              <a:t>general-purpose</a:t>
            </a:r>
            <a:r>
              <a:rPr lang="en-US" dirty="0"/>
              <a:t>: it can be used for many things</a:t>
            </a:r>
          </a:p>
          <a:p>
            <a:r>
              <a:rPr lang="en-US" b="1" dirty="0"/>
              <a:t>high-level</a:t>
            </a:r>
            <a:r>
              <a:rPr lang="en-US" dirty="0"/>
              <a:t>: achieve a lot with a few simple commands</a:t>
            </a:r>
          </a:p>
          <a:p>
            <a:r>
              <a:rPr lang="en-US" b="1" dirty="0"/>
              <a:t>interpreted</a:t>
            </a:r>
            <a:r>
              <a:rPr lang="en-US" dirty="0"/>
              <a:t>: you don’t have to ‘compile’ the code into ‘machine code’ after you’ve written it</a:t>
            </a:r>
          </a:p>
          <a:p>
            <a:r>
              <a:rPr lang="en-US" b="1" dirty="0"/>
              <a:t>community driven</a:t>
            </a:r>
            <a:r>
              <a:rPr lang="en-US" dirty="0"/>
              <a:t>: open source libraries</a:t>
            </a:r>
            <a:endParaRPr lang="en-TR" dirty="0"/>
          </a:p>
        </p:txBody>
      </p:sp>
    </p:spTree>
    <p:extLst>
      <p:ext uri="{BB962C8B-B14F-4D97-AF65-F5344CB8AC3E}">
        <p14:creationId xmlns:p14="http://schemas.microsoft.com/office/powerpoint/2010/main" val="290520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D29BD-B98B-6770-ECF8-FDA260EA9DC9}"/>
              </a:ext>
            </a:extLst>
          </p:cNvPr>
          <p:cNvSpPr>
            <a:spLocks noGrp="1"/>
          </p:cNvSpPr>
          <p:nvPr>
            <p:ph type="title"/>
          </p:nvPr>
        </p:nvSpPr>
        <p:spPr/>
        <p:txBody>
          <a:bodyPr/>
          <a:lstStyle/>
          <a:p>
            <a:r>
              <a:rPr lang="en-TR" dirty="0"/>
              <a:t>The Builder</a:t>
            </a:r>
          </a:p>
        </p:txBody>
      </p:sp>
      <p:sp>
        <p:nvSpPr>
          <p:cNvPr id="3" name="Content Placeholder 2">
            <a:extLst>
              <a:ext uri="{FF2B5EF4-FFF2-40B4-BE49-F238E27FC236}">
                <a16:creationId xmlns:a16="http://schemas.microsoft.com/office/drawing/2014/main" id="{28FC5197-1F1D-EB24-B442-9A44BFBEBF28}"/>
              </a:ext>
            </a:extLst>
          </p:cNvPr>
          <p:cNvSpPr>
            <a:spLocks noGrp="1"/>
          </p:cNvSpPr>
          <p:nvPr>
            <p:ph idx="1"/>
          </p:nvPr>
        </p:nvSpPr>
        <p:spPr>
          <a:xfrm>
            <a:off x="838200" y="1825625"/>
            <a:ext cx="3581400" cy="4351338"/>
          </a:xfrm>
        </p:spPr>
        <p:txBody>
          <a:bodyPr>
            <a:noAutofit/>
          </a:bodyPr>
          <a:lstStyle/>
          <a:p>
            <a:pPr>
              <a:spcBef>
                <a:spcPts val="0"/>
              </a:spcBef>
            </a:pPr>
            <a:r>
              <a:rPr lang="en-US" sz="1400" dirty="0"/>
              <a:t>Flow &gt; Routines &gt; Components</a:t>
            </a:r>
          </a:p>
          <a:p>
            <a:pPr>
              <a:spcBef>
                <a:spcPts val="0"/>
              </a:spcBef>
            </a:pPr>
            <a:r>
              <a:rPr lang="en-US" sz="1400" dirty="0"/>
              <a:t>components: basic items that can be combined to create an experiment</a:t>
            </a:r>
          </a:p>
          <a:p>
            <a:pPr>
              <a:spcBef>
                <a:spcPts val="0"/>
              </a:spcBef>
            </a:pPr>
            <a:r>
              <a:rPr lang="en-US" sz="1400" dirty="0"/>
              <a:t>routines: define how Components interact in time (e.g. a trial: presenting stimuli and getting a response)</a:t>
            </a:r>
          </a:p>
          <a:p>
            <a:pPr>
              <a:spcBef>
                <a:spcPts val="0"/>
              </a:spcBef>
            </a:pPr>
            <a:r>
              <a:rPr lang="en-US" sz="1400" dirty="0"/>
              <a:t>routine is like a track editor for movie/audio editing software</a:t>
            </a:r>
          </a:p>
          <a:p>
            <a:pPr>
              <a:spcBef>
                <a:spcPts val="0"/>
              </a:spcBef>
            </a:pPr>
            <a:r>
              <a:rPr lang="en-US" sz="1400" dirty="0"/>
              <a:t>flow: When you first create an experiment it simply has a blue box on the timeline indicating the (default) trial Routine</a:t>
            </a:r>
          </a:p>
          <a:p>
            <a:pPr>
              <a:spcBef>
                <a:spcPts val="0"/>
              </a:spcBef>
            </a:pPr>
            <a:r>
              <a:rPr lang="en-US" sz="1400" dirty="0"/>
              <a:t>Flow is just a flow chart and controls the order of things and whether or not they repeat in Loops</a:t>
            </a:r>
          </a:p>
          <a:p>
            <a:pPr>
              <a:spcBef>
                <a:spcPts val="0"/>
              </a:spcBef>
            </a:pPr>
            <a:r>
              <a:rPr lang="en-US" sz="1400" dirty="0"/>
              <a:t>you can zoom in and out in the flow view</a:t>
            </a:r>
          </a:p>
          <a:p>
            <a:pPr>
              <a:spcBef>
                <a:spcPts val="0"/>
              </a:spcBef>
            </a:pPr>
            <a:r>
              <a:rPr lang="en-US" sz="1400" dirty="0"/>
              <a:t>loops: Loops are used to control repetition and also to allow things to vary from one repeat to the next. They can be nested.</a:t>
            </a:r>
          </a:p>
          <a:p>
            <a:pPr>
              <a:spcBef>
                <a:spcPts val="0"/>
              </a:spcBef>
            </a:pPr>
            <a:r>
              <a:rPr lang="en-US" sz="1400" dirty="0"/>
              <a:t>Loops can be used to select random or sequential presentation of conditions or to create ‘staircase’ procedures whereby the next condition is determined by responses to the previous one.</a:t>
            </a:r>
          </a:p>
          <a:p>
            <a:pPr>
              <a:spcBef>
                <a:spcPts val="0"/>
              </a:spcBef>
            </a:pPr>
            <a:r>
              <a:rPr lang="en-US" sz="1400" dirty="0"/>
              <a:t>there's a toolbar on the top</a:t>
            </a:r>
            <a:endParaRPr lang="en-TR" sz="1400" dirty="0"/>
          </a:p>
        </p:txBody>
      </p:sp>
      <p:pic>
        <p:nvPicPr>
          <p:cNvPr id="5" name="Picture 4">
            <a:extLst>
              <a:ext uri="{FF2B5EF4-FFF2-40B4-BE49-F238E27FC236}">
                <a16:creationId xmlns:a16="http://schemas.microsoft.com/office/drawing/2014/main" id="{889C44B9-91F6-38F7-DDB3-2A548990D35F}"/>
              </a:ext>
            </a:extLst>
          </p:cNvPr>
          <p:cNvPicPr>
            <a:picLocks noChangeAspect="1"/>
          </p:cNvPicPr>
          <p:nvPr/>
        </p:nvPicPr>
        <p:blipFill>
          <a:blip r:embed="rId2"/>
          <a:stretch>
            <a:fillRect/>
          </a:stretch>
        </p:blipFill>
        <p:spPr>
          <a:xfrm>
            <a:off x="4419600" y="1482152"/>
            <a:ext cx="7772400" cy="4694811"/>
          </a:xfrm>
          <a:prstGeom prst="rect">
            <a:avLst/>
          </a:prstGeom>
        </p:spPr>
      </p:pic>
    </p:spTree>
    <p:extLst>
      <p:ext uri="{BB962C8B-B14F-4D97-AF65-F5344CB8AC3E}">
        <p14:creationId xmlns:p14="http://schemas.microsoft.com/office/powerpoint/2010/main" val="2501554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916E3-35CD-0184-B094-3BC7B58513EA}"/>
              </a:ext>
            </a:extLst>
          </p:cNvPr>
          <p:cNvSpPr>
            <a:spLocks noGrp="1"/>
          </p:cNvSpPr>
          <p:nvPr>
            <p:ph type="title"/>
          </p:nvPr>
        </p:nvSpPr>
        <p:spPr/>
        <p:txBody>
          <a:bodyPr/>
          <a:lstStyle/>
          <a:p>
            <a:r>
              <a:rPr lang="en-TR" dirty="0"/>
              <a:t>Today: STROOP TASK</a:t>
            </a:r>
          </a:p>
        </p:txBody>
      </p:sp>
      <p:sp>
        <p:nvSpPr>
          <p:cNvPr id="3" name="Content Placeholder 2">
            <a:extLst>
              <a:ext uri="{FF2B5EF4-FFF2-40B4-BE49-F238E27FC236}">
                <a16:creationId xmlns:a16="http://schemas.microsoft.com/office/drawing/2014/main" id="{E0695D6E-B73A-4E22-4C5A-C0B42CB878BF}"/>
              </a:ext>
            </a:extLst>
          </p:cNvPr>
          <p:cNvSpPr>
            <a:spLocks noGrp="1"/>
          </p:cNvSpPr>
          <p:nvPr>
            <p:ph idx="1"/>
          </p:nvPr>
        </p:nvSpPr>
        <p:spPr/>
        <p:txBody>
          <a:bodyPr>
            <a:normAutofit fontScale="62500" lnSpcReduction="20000"/>
          </a:bodyPr>
          <a:lstStyle/>
          <a:p>
            <a:r>
              <a:rPr lang="en-US" dirty="0"/>
              <a:t>Color names are presented on the screen either in colored letters that match the word being spelled (a congruent condition) or with letters that differ in color from the word</a:t>
            </a:r>
          </a:p>
          <a:p>
            <a:pPr lvl="1"/>
            <a:r>
              <a:rPr lang="en-US" dirty="0"/>
              <a:t>What </a:t>
            </a:r>
            <a:r>
              <a:rPr lang="en-US" dirty="0" err="1"/>
              <a:t>stroop</a:t>
            </a:r>
            <a:r>
              <a:rPr lang="en-US" dirty="0"/>
              <a:t> studies in </a:t>
            </a:r>
            <a:r>
              <a:rPr lang="en-US" dirty="0" err="1"/>
              <a:t>cogsci</a:t>
            </a:r>
            <a:r>
              <a:rPr lang="en-US" dirty="0"/>
              <a:t>: executive function and attention</a:t>
            </a:r>
          </a:p>
          <a:p>
            <a:pPr lvl="1"/>
            <a:r>
              <a:rPr lang="en-US" dirty="0"/>
              <a:t>Study individual differences, asking whether certain groups of people show more or less Stroop-type interference</a:t>
            </a:r>
          </a:p>
          <a:p>
            <a:r>
              <a:rPr lang="en-US" dirty="0"/>
              <a:t> Create a separate folder for each project!</a:t>
            </a:r>
          </a:p>
          <a:p>
            <a:r>
              <a:rPr lang="en-US" dirty="0"/>
              <a:t> Think:</a:t>
            </a:r>
          </a:p>
          <a:p>
            <a:pPr lvl="1"/>
            <a:r>
              <a:rPr lang="en-US" dirty="0"/>
              <a:t>what changes from trial to trial (controlled by a </a:t>
            </a:r>
            <a:r>
              <a:rPr lang="en-US" b="1" dirty="0"/>
              <a:t>conditions</a:t>
            </a:r>
            <a:r>
              <a:rPr lang="en-US" dirty="0"/>
              <a:t> file)</a:t>
            </a:r>
          </a:p>
          <a:p>
            <a:pPr lvl="1"/>
            <a:r>
              <a:rPr lang="en-US" dirty="0"/>
              <a:t>what stays the same (defined within a </a:t>
            </a:r>
            <a:r>
              <a:rPr lang="en-US" b="1" dirty="0"/>
              <a:t>Routine</a:t>
            </a:r>
            <a:r>
              <a:rPr lang="en-US" dirty="0"/>
              <a:t>)</a:t>
            </a:r>
          </a:p>
          <a:p>
            <a:r>
              <a:rPr lang="en-US" dirty="0"/>
              <a:t>In a Stroop trial we will show a color word and get response, and this "routine" will stay the same</a:t>
            </a:r>
          </a:p>
          <a:p>
            <a:r>
              <a:rPr lang="en-US" dirty="0"/>
              <a:t>But we will change color names and also the congruency condition</a:t>
            </a:r>
          </a:p>
          <a:p>
            <a:r>
              <a:rPr lang="en-US" dirty="0"/>
              <a:t>so, can you list the variables?</a:t>
            </a:r>
          </a:p>
          <a:p>
            <a:pPr lvl="1"/>
            <a:r>
              <a:rPr lang="en-US" dirty="0"/>
              <a:t>the word the text stimulus present</a:t>
            </a:r>
          </a:p>
          <a:p>
            <a:pPr lvl="1"/>
            <a:r>
              <a:rPr lang="en-US" dirty="0"/>
              <a:t>color of its letters</a:t>
            </a:r>
          </a:p>
          <a:p>
            <a:pPr lvl="1"/>
            <a:r>
              <a:rPr lang="en-US" dirty="0"/>
              <a:t>value of the correct answer</a:t>
            </a:r>
          </a:p>
          <a:p>
            <a:r>
              <a:rPr lang="en-US" dirty="0"/>
              <a:t>we should define these in the conditions file (csv, xlsx)</a:t>
            </a:r>
            <a:endParaRPr lang="en-TR" dirty="0"/>
          </a:p>
        </p:txBody>
      </p:sp>
    </p:spTree>
    <p:extLst>
      <p:ext uri="{BB962C8B-B14F-4D97-AF65-F5344CB8AC3E}">
        <p14:creationId xmlns:p14="http://schemas.microsoft.com/office/powerpoint/2010/main" val="2410568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8A22-DABE-6095-BF68-1AF1EC905BC0}"/>
              </a:ext>
            </a:extLst>
          </p:cNvPr>
          <p:cNvSpPr>
            <a:spLocks noGrp="1"/>
          </p:cNvSpPr>
          <p:nvPr>
            <p:ph type="title"/>
          </p:nvPr>
        </p:nvSpPr>
        <p:spPr/>
        <p:txBody>
          <a:bodyPr/>
          <a:lstStyle/>
          <a:p>
            <a:r>
              <a:rPr lang="en-TR" dirty="0"/>
              <a:t>Defining Conditions</a:t>
            </a:r>
          </a:p>
        </p:txBody>
      </p:sp>
      <p:sp>
        <p:nvSpPr>
          <p:cNvPr id="3" name="Content Placeholder 2">
            <a:extLst>
              <a:ext uri="{FF2B5EF4-FFF2-40B4-BE49-F238E27FC236}">
                <a16:creationId xmlns:a16="http://schemas.microsoft.com/office/drawing/2014/main" id="{C544D6BD-29EA-DCA9-5B87-D923931B4C73}"/>
              </a:ext>
            </a:extLst>
          </p:cNvPr>
          <p:cNvSpPr>
            <a:spLocks noGrp="1"/>
          </p:cNvSpPr>
          <p:nvPr>
            <p:ph idx="1"/>
          </p:nvPr>
        </p:nvSpPr>
        <p:spPr/>
        <p:txBody>
          <a:bodyPr>
            <a:normAutofit/>
          </a:bodyPr>
          <a:lstStyle/>
          <a:p>
            <a:r>
              <a:rPr lang="en-US" dirty="0"/>
              <a:t>How to prepare a conditions file: rows: each type of trial that you intend to run; cols: variables; cells: values</a:t>
            </a:r>
          </a:p>
          <a:p>
            <a:pPr lvl="1"/>
            <a:r>
              <a:rPr lang="en-US" dirty="0"/>
              <a:t>colors: red, green, blue; </a:t>
            </a:r>
            <a:r>
              <a:rPr lang="en-US" dirty="0" err="1"/>
              <a:t>corrAns</a:t>
            </a:r>
            <a:r>
              <a:rPr lang="en-US" dirty="0"/>
              <a:t>: should report the color of the text: left (R), down (G), right (B)</a:t>
            </a:r>
          </a:p>
          <a:p>
            <a:r>
              <a:rPr lang="en-US" dirty="0"/>
              <a:t> Some rules for the conditions file:</a:t>
            </a:r>
          </a:p>
          <a:p>
            <a:pPr lvl="1"/>
            <a:r>
              <a:rPr lang="en-US" dirty="0"/>
              <a:t>Variables in your conditions file must have unique names</a:t>
            </a:r>
          </a:p>
          <a:p>
            <a:pPr lvl="1"/>
            <a:r>
              <a:rPr lang="en-US" dirty="0"/>
              <a:t>Variables cannot contain spaces, punctuation or accents</a:t>
            </a:r>
          </a:p>
          <a:p>
            <a:pPr lvl="1"/>
            <a:r>
              <a:rPr lang="en-US" dirty="0"/>
              <a:t>All columns with values in them need a variable name at the top</a:t>
            </a:r>
          </a:p>
          <a:p>
            <a:pPr lvl="1"/>
            <a:r>
              <a:rPr lang="en-US" dirty="0"/>
              <a:t>Naming of variables/conditions is case-sensitive</a:t>
            </a:r>
          </a:p>
          <a:p>
            <a:pPr lvl="1"/>
            <a:r>
              <a:rPr lang="en-US" dirty="0"/>
              <a:t>!!!Watch out for spaces in your conditions file!!! (e.g. variable names)</a:t>
            </a:r>
            <a:endParaRPr lang="en-TR" dirty="0"/>
          </a:p>
        </p:txBody>
      </p:sp>
    </p:spTree>
    <p:extLst>
      <p:ext uri="{BB962C8B-B14F-4D97-AF65-F5344CB8AC3E}">
        <p14:creationId xmlns:p14="http://schemas.microsoft.com/office/powerpoint/2010/main" val="173221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9C7FB-D81D-0996-423F-476C69F19139}"/>
              </a:ext>
            </a:extLst>
          </p:cNvPr>
          <p:cNvSpPr>
            <a:spLocks noGrp="1"/>
          </p:cNvSpPr>
          <p:nvPr>
            <p:ph type="title"/>
          </p:nvPr>
        </p:nvSpPr>
        <p:spPr/>
        <p:txBody>
          <a:bodyPr/>
          <a:lstStyle/>
          <a:p>
            <a:r>
              <a:rPr lang="en-TR" dirty="0"/>
              <a:t>Defining a Trial</a:t>
            </a:r>
          </a:p>
        </p:txBody>
      </p:sp>
      <p:sp>
        <p:nvSpPr>
          <p:cNvPr id="3" name="Content Placeholder 2">
            <a:extLst>
              <a:ext uri="{FF2B5EF4-FFF2-40B4-BE49-F238E27FC236}">
                <a16:creationId xmlns:a16="http://schemas.microsoft.com/office/drawing/2014/main" id="{63FD3B5D-72B0-4C77-8D85-60B78B1F21E0}"/>
              </a:ext>
            </a:extLst>
          </p:cNvPr>
          <p:cNvSpPr>
            <a:spLocks noGrp="1"/>
          </p:cNvSpPr>
          <p:nvPr>
            <p:ph idx="1"/>
          </p:nvPr>
        </p:nvSpPr>
        <p:spPr/>
        <p:txBody>
          <a:bodyPr/>
          <a:lstStyle/>
          <a:p>
            <a:r>
              <a:rPr lang="en-TR" dirty="0"/>
              <a:t>Components</a:t>
            </a:r>
          </a:p>
          <a:p>
            <a:pPr lvl="1"/>
            <a:r>
              <a:rPr lang="en-TR" dirty="0"/>
              <a:t>Textbox</a:t>
            </a:r>
          </a:p>
          <a:p>
            <a:pPr lvl="1"/>
            <a:r>
              <a:rPr lang="en-TR" dirty="0"/>
              <a:t>Keyboard</a:t>
            </a:r>
          </a:p>
          <a:p>
            <a:pPr lvl="1"/>
            <a:endParaRPr lang="en-TR" dirty="0"/>
          </a:p>
          <a:p>
            <a:r>
              <a:rPr lang="en-TR" dirty="0"/>
              <a:t>Demo time…</a:t>
            </a:r>
          </a:p>
        </p:txBody>
      </p:sp>
    </p:spTree>
    <p:extLst>
      <p:ext uri="{BB962C8B-B14F-4D97-AF65-F5344CB8AC3E}">
        <p14:creationId xmlns:p14="http://schemas.microsoft.com/office/powerpoint/2010/main" val="2030984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51E4E-0EB0-A5B9-83D1-0E796F526A7A}"/>
              </a:ext>
            </a:extLst>
          </p:cNvPr>
          <p:cNvSpPr>
            <a:spLocks noGrp="1"/>
          </p:cNvSpPr>
          <p:nvPr>
            <p:ph type="title"/>
          </p:nvPr>
        </p:nvSpPr>
        <p:spPr/>
        <p:txBody>
          <a:bodyPr/>
          <a:lstStyle/>
          <a:p>
            <a:r>
              <a:rPr lang="en-TR" dirty="0"/>
              <a:t>Assignment</a:t>
            </a:r>
          </a:p>
        </p:txBody>
      </p:sp>
      <p:sp>
        <p:nvSpPr>
          <p:cNvPr id="3" name="Content Placeholder 2">
            <a:extLst>
              <a:ext uri="{FF2B5EF4-FFF2-40B4-BE49-F238E27FC236}">
                <a16:creationId xmlns:a16="http://schemas.microsoft.com/office/drawing/2014/main" id="{4909C6C9-0E69-5726-0819-A09F5FCE2BB6}"/>
              </a:ext>
            </a:extLst>
          </p:cNvPr>
          <p:cNvSpPr>
            <a:spLocks noGrp="1"/>
          </p:cNvSpPr>
          <p:nvPr>
            <p:ph idx="1"/>
          </p:nvPr>
        </p:nvSpPr>
        <p:spPr/>
        <p:txBody>
          <a:bodyPr>
            <a:normAutofit fontScale="55000" lnSpcReduction="20000"/>
          </a:bodyPr>
          <a:lstStyle/>
          <a:p>
            <a:r>
              <a:rPr lang="en-TR" dirty="0"/>
              <a:t>Find a task</a:t>
            </a:r>
          </a:p>
          <a:p>
            <a:pPr lvl="1"/>
            <a:r>
              <a:rPr lang="en-TR" dirty="0"/>
              <a:t>Explore pavlovia repositories (</a:t>
            </a:r>
            <a:r>
              <a:rPr lang="en-US" dirty="0">
                <a:hlinkClick r:id="rId2"/>
              </a:rPr>
              <a:t>https://pavlovia.org/explore</a:t>
            </a:r>
            <a:r>
              <a:rPr lang="en-US" dirty="0"/>
              <a:t>)</a:t>
            </a:r>
            <a:endParaRPr lang="en-TR" dirty="0"/>
          </a:p>
          <a:p>
            <a:pPr lvl="1"/>
            <a:r>
              <a:rPr lang="en-TR" dirty="0"/>
              <a:t>Explore OSF (</a:t>
            </a:r>
            <a:r>
              <a:rPr lang="en-US" dirty="0">
                <a:hlinkClick r:id="rId3"/>
              </a:rPr>
              <a:t>https://osf.io/</a:t>
            </a:r>
            <a:r>
              <a:rPr lang="en-US" dirty="0"/>
              <a:t>)</a:t>
            </a:r>
            <a:endParaRPr lang="en-TR" dirty="0"/>
          </a:p>
          <a:p>
            <a:r>
              <a:rPr lang="en-TR" dirty="0"/>
              <a:t>Consider relevant research questions</a:t>
            </a:r>
          </a:p>
          <a:p>
            <a:r>
              <a:rPr lang="en-TR" dirty="0"/>
              <a:t>Search for variations of the task</a:t>
            </a:r>
          </a:p>
          <a:p>
            <a:pPr lvl="1"/>
            <a:r>
              <a:rPr lang="en-TR" dirty="0"/>
              <a:t>Find an additional categorical contrast (e.g. Turkish-English in Stroop)</a:t>
            </a:r>
          </a:p>
          <a:p>
            <a:pPr lvl="1"/>
            <a:r>
              <a:rPr lang="en-TR" dirty="0"/>
              <a:t>Can also be a between-participants group contrast</a:t>
            </a:r>
          </a:p>
          <a:p>
            <a:pPr lvl="2"/>
            <a:r>
              <a:rPr lang="en-TR" dirty="0"/>
              <a:t>You can’t find a particular group</a:t>
            </a:r>
          </a:p>
          <a:p>
            <a:pPr lvl="2"/>
            <a:r>
              <a:rPr lang="en-TR" dirty="0"/>
              <a:t>Sample is limited to class participants</a:t>
            </a:r>
          </a:p>
          <a:p>
            <a:pPr lvl="2"/>
            <a:r>
              <a:rPr lang="en-TR" dirty="0"/>
              <a:t>But you can ask participants about information relevant to your task (e.g. smoker status for risk taking tasks)</a:t>
            </a:r>
          </a:p>
          <a:p>
            <a:r>
              <a:rPr lang="en-TR" dirty="0"/>
              <a:t>Implement your variation of the task</a:t>
            </a:r>
          </a:p>
          <a:p>
            <a:pPr lvl="1"/>
            <a:r>
              <a:rPr lang="en-TR" dirty="0"/>
              <a:t>Make your reasoning about this variation explicit</a:t>
            </a:r>
          </a:p>
          <a:p>
            <a:pPr lvl="1"/>
            <a:r>
              <a:rPr lang="en-TR" dirty="0"/>
              <a:t>Make sure the task does not last more than 5 minutes</a:t>
            </a:r>
          </a:p>
          <a:p>
            <a:pPr lvl="1"/>
            <a:r>
              <a:rPr lang="en-TR" dirty="0"/>
              <a:t>You can use public repositories from pavlovia, and build on it. But if you do so, make sure to give reference to original repository.</a:t>
            </a:r>
          </a:p>
          <a:p>
            <a:r>
              <a:rPr lang="en-TR" dirty="0"/>
              <a:t>Upload your code to Pavlovia</a:t>
            </a:r>
          </a:p>
          <a:p>
            <a:r>
              <a:rPr lang="en-TR" dirty="0"/>
              <a:t>Make your GitLab repo public</a:t>
            </a:r>
          </a:p>
          <a:p>
            <a:r>
              <a:rPr lang="en-TR" dirty="0"/>
              <a:t>Share it with your classmates (via odtuclass forum)</a:t>
            </a:r>
          </a:p>
          <a:p>
            <a:r>
              <a:rPr lang="en-TR" dirty="0"/>
              <a:t>Follow the forum, and make sure that you fork each repository, run it in pilot mode, and upload your data</a:t>
            </a:r>
          </a:p>
          <a:p>
            <a:endParaRPr lang="en-TR" dirty="0"/>
          </a:p>
        </p:txBody>
      </p:sp>
    </p:spTree>
    <p:extLst>
      <p:ext uri="{BB962C8B-B14F-4D97-AF65-F5344CB8AC3E}">
        <p14:creationId xmlns:p14="http://schemas.microsoft.com/office/powerpoint/2010/main" val="2095848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616</TotalTime>
  <Words>1099</Words>
  <Application>Microsoft Macintosh PowerPoint</Application>
  <PresentationFormat>Widescreen</PresentationFormat>
  <Paragraphs>104</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PsychoPy</vt:lpstr>
      <vt:lpstr>Motivations</vt:lpstr>
      <vt:lpstr>Experiments</vt:lpstr>
      <vt:lpstr>Resources</vt:lpstr>
      <vt:lpstr>PsychoPy</vt:lpstr>
      <vt:lpstr>Designing Experiments</vt:lpstr>
      <vt:lpstr>PsychoPy</vt:lpstr>
      <vt:lpstr>Python</vt:lpstr>
      <vt:lpstr>The Builder</vt:lpstr>
      <vt:lpstr>Today: STROOP TASK</vt:lpstr>
      <vt:lpstr>Defining Conditions</vt:lpstr>
      <vt:lpstr>Defining a Trial</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alaz aydin</dc:creator>
  <cp:lastModifiedBy>Alaz Aydın</cp:lastModifiedBy>
  <cp:revision>25</cp:revision>
  <dcterms:created xsi:type="dcterms:W3CDTF">2026-03-30T08:25:40Z</dcterms:created>
  <dcterms:modified xsi:type="dcterms:W3CDTF">2026-04-30T12:02:48Z</dcterms:modified>
</cp:coreProperties>
</file>